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92a2409-0858-de2c-8ad5-8a57352ba82c}">
          <p14:sldIdLst>
            <p14:sldId id="256"/>
            <p14:sldId id="257"/>
          </p14:sldIdLst>
        </p14:section>
        <p14:section name="Why each feature exists" id="{09b1c0c2-062c-3362-87fa-ee74ec2da87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Get Atomic" id="{9091d410-fd30-4f0a-5017-93dbe4ff5b7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completion</c:v>
                </c:pt>
              </c:strCache>
            </c:strRef>
          </c:tx>
          <c:spPr>
            <a:solidFill>
              <a:srgbClr val="0E74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</c:v>
                </c:pt>
                <c:pt idx="1">
                  <c:v>55</c:v>
                </c:pt>
                <c:pt idx="2">
                  <c:v>48</c:v>
                </c:pt>
                <c:pt idx="3">
                  <c:v>60</c:v>
                </c:pt>
                <c:pt idx="4">
                  <c:v>58</c:v>
                </c:pt>
                <c:pt idx="5">
                  <c:v>65</c:v>
                </c:pt>
                <c:pt idx="6">
                  <c:v>72</c:v>
                </c:pt>
                <c:pt idx="7">
                  <c:v>68</c:v>
                </c:pt>
                <c:pt idx="8">
                  <c:v>75</c:v>
                </c:pt>
                <c:pt idx="9">
                  <c:v>80</c:v>
                </c:pt>
                <c:pt idx="10">
                  <c:v>78</c:v>
                </c:pt>
                <c:pt idx="11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EE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84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84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deck walks feature by feature through the app, pairing each one with the Atomic Habits idea it implements. All quotes are verified against James Clear’s own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compound interest is why the app obsesses over daily repetition rather than big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Identity field + proven-count badge are the direct implementation of the vote metaphor.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habit form = the four laws. Cue, identity/craving, 2-minute version, reward are the four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rule implemented as the miniVersion field + toggle. Quote verified: Atomic Habits p.22.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Chains from the book are stored per habit and shown as Stacks on the Habits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Never-miss-twice line verified on jamesclear.com. Heatmap is the app’s 90-day grid, drawn here as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Scorecard = book chapter 1 technique; quote verified on jamesclear.com.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Trend chart, XP and ring all answer one question: is the system running? Quote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Permission rationale + status pill are the P0 quality items. Quote is one of the app’s own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 is deliberately one tweak: change the input (cue), let the output fix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= environment design. The interface is the disciplined environment for the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is the system. Closing quote is the one shown on the home screen of the app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- Habit Streak Tracker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- Habit Streak Tracker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CLEAR’S ATOMIC HABITS, MADE TANGIBLE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14630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4FB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88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5F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Streak Tracker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feature earns its place — explained in the words of the book it is built on.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63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 ·  free web hosting on Render  ·  open source MEAN stack</a:t>
            </a:r>
            <a:endParaRPr lang="en-US" sz="1300" dirty="0"/>
          </a:p>
        </p:txBody>
      </p:sp>
      <p:pic>
        <p:nvPicPr>
          <p:cNvPr id="7" name="app-icon" descr="C:\Users\admin\Desktop\project\git\MEANSTACK\habit-tracker\client\assets\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554480"/>
            <a:ext cx="329184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"/>
          <p:cNvSpPr/>
          <p:nvPr/>
        </p:nvSpPr>
        <p:spPr>
          <a:xfrm>
            <a:off x="4023360" y="685800"/>
            <a:ext cx="4114800" cy="4114800"/>
          </a:xfrm>
          <a:prstGeom prst="ellipse">
            <a:avLst/>
          </a:prstGeom>
          <a:solidFill>
            <a:srgbClr val="123A48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13258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 THE APP IS BUILT ON</a:t>
            </a:r>
            <a:endParaRPr lang="en-US" sz="1300" dirty="0"/>
          </a:p>
        </p:txBody>
      </p:sp>
      <p:sp>
        <p:nvSpPr>
          <p:cNvPr id="4" name="thesis"/>
          <p:cNvSpPr txBox="1"/>
          <p:nvPr/>
        </p:nvSpPr>
        <p:spPr>
          <a:xfrm>
            <a:off x="1188720" y="1965960"/>
            <a:ext cx="9784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F4F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“Habits are the compound interest of self-improvement.”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4069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Clear, Atomic Habits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4892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F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turns that loop — small votes, repeated — into something you can actually see.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Identity: every check-in is a vote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503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habit starts with who you want to become. You write the identity — “I am a reader” — and the app plays witness: every check-in is logged as evidence, and a badge proves it — “Proven 12× this month”.</a:t>
            </a:r>
            <a:endParaRPr lang="en-US" sz="1550" dirty="0"/>
          </a:p>
        </p:txBody>
      </p:sp>
      <p:sp>
        <p:nvSpPr>
          <p:cNvPr id="4" name="quote-card"/>
          <p:cNvSpPr/>
          <p:nvPr/>
        </p:nvSpPr>
        <p:spPr>
          <a:xfrm>
            <a:off x="457200" y="3154680"/>
            <a:ext cx="8503920" cy="1554480"/>
          </a:xfrm>
          <a:prstGeom prst="roundRect">
            <a:avLst>
              <a:gd name="adj" fmla="val 8235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5" name="quote-text"/>
          <p:cNvSpPr txBox="1"/>
          <p:nvPr/>
        </p:nvSpPr>
        <p:spPr>
          <a:xfrm>
            <a:off x="749808" y="3374136"/>
            <a:ext cx="7918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action you take is a vote for the type of person you wish to become.”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Clear, Atomic Habits (p. 38)</a:t>
            </a:r>
            <a:endParaRPr lang="en-US" sz="2200" dirty="0"/>
          </a:p>
        </p:txBody>
      </p:sp>
      <p:sp>
        <p:nvSpPr>
          <p:cNvPr id="6" name="shot-frame"/>
          <p:cNvSpPr/>
          <p:nvPr/>
        </p:nvSpPr>
        <p:spPr>
          <a:xfrm>
            <a:off x="9345168" y="1280160"/>
            <a:ext cx="2468880" cy="5029200"/>
          </a:xfrm>
          <a:prstGeom prst="roundRect">
            <a:avLst>
              <a:gd name="adj" fmla="val 6667"/>
            </a:avLst>
          </a:prstGeom>
          <a:solidFill>
            <a:srgbClr val="0B24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pic>
        <p:nvPicPr>
          <p:cNvPr id="7" name="shot" descr="C:\Users\admin\AppData\Local\Temp\opencode\shot\mobile-hab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1371600"/>
            <a:ext cx="2286000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laws — four fields on every habit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E74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I make it obvious? How can I make it attractive? How can I make it easy? How can I make it satisfying?”  — James Clear</a:t>
            </a:r>
            <a:endParaRPr lang="en-US" sz="1500" dirty="0"/>
          </a:p>
        </p:txBody>
      </p:sp>
      <p:sp>
        <p:nvSpPr>
          <p:cNvPr id="4" name="law-card"/>
          <p:cNvSpPr/>
          <p:nvPr/>
        </p:nvSpPr>
        <p:spPr>
          <a:xfrm>
            <a:off x="457200" y="201168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5" name="num-circle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0E7486"/>
          </a:solidFill>
          <a:ln/>
        </p:spPr>
      </p:sp>
      <p:sp>
        <p:nvSpPr>
          <p:cNvPr id="6" name="num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225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obvious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field on every habit: when and where it happens — “After breakfast, I read.”</a:t>
            </a:r>
            <a:endParaRPr lang="en-US" sz="1350" dirty="0"/>
          </a:p>
        </p:txBody>
      </p:sp>
      <p:sp>
        <p:nvSpPr>
          <p:cNvPr id="9" name="law-card"/>
          <p:cNvSpPr/>
          <p:nvPr/>
        </p:nvSpPr>
        <p:spPr>
          <a:xfrm>
            <a:off x="6336792" y="201168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0" name="num-circle"/>
          <p:cNvSpPr/>
          <p:nvPr/>
        </p:nvSpPr>
        <p:spPr>
          <a:xfrm>
            <a:off x="6611112" y="2286000"/>
            <a:ext cx="502920" cy="502920"/>
          </a:xfrm>
          <a:prstGeom prst="ellipse">
            <a:avLst/>
          </a:prstGeom>
          <a:solidFill>
            <a:srgbClr val="0E7486"/>
          </a:solidFill>
          <a:ln/>
        </p:spPr>
      </p:sp>
      <p:sp>
        <p:nvSpPr>
          <p:cNvPr id="11" name="num"/>
          <p:cNvSpPr/>
          <p:nvPr/>
        </p:nvSpPr>
        <p:spPr>
          <a:xfrm>
            <a:off x="661111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296912" y="23225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attractive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29718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reward: who you become, and what you get to enjoy after.</a:t>
            </a:r>
            <a:endParaRPr lang="en-US" sz="1350" dirty="0"/>
          </a:p>
        </p:txBody>
      </p:sp>
      <p:sp>
        <p:nvSpPr>
          <p:cNvPr id="14" name="law-card"/>
          <p:cNvSpPr/>
          <p:nvPr/>
        </p:nvSpPr>
        <p:spPr>
          <a:xfrm>
            <a:off x="457200" y="416052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5" name="num-circle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0E7486"/>
          </a:solidFill>
          <a:ln/>
        </p:spPr>
      </p:sp>
      <p:sp>
        <p:nvSpPr>
          <p:cNvPr id="16" name="num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4714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easy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120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2-minute version — “Read 1 page” — so starting is never a debate.</a:t>
            </a:r>
            <a:endParaRPr lang="en-US" sz="1350" dirty="0"/>
          </a:p>
        </p:txBody>
      </p:sp>
      <p:sp>
        <p:nvSpPr>
          <p:cNvPr id="19" name="law-card"/>
          <p:cNvSpPr/>
          <p:nvPr/>
        </p:nvSpPr>
        <p:spPr>
          <a:xfrm>
            <a:off x="6336792" y="416052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20" name="num-circle"/>
          <p:cNvSpPr/>
          <p:nvPr/>
        </p:nvSpPr>
        <p:spPr>
          <a:xfrm>
            <a:off x="6611112" y="4434840"/>
            <a:ext cx="502920" cy="502920"/>
          </a:xfrm>
          <a:prstGeom prst="ellipse">
            <a:avLst/>
          </a:prstGeom>
          <a:solidFill>
            <a:srgbClr val="0E7486"/>
          </a:solidFill>
          <a:ln/>
        </p:spPr>
      </p:sp>
      <p:sp>
        <p:nvSpPr>
          <p:cNvPr id="21" name="num"/>
          <p:cNvSpPr/>
          <p:nvPr/>
        </p:nvSpPr>
        <p:spPr>
          <a:xfrm>
            <a:off x="6611112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44714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satisfying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611112" y="5120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off and watch streak, XP and the goal ring fill up instantly.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absurdly small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3200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a new habit</a:t>
            </a:r>
            <a:endParaRPr lang="en-US" sz="1500" dirty="0"/>
          </a:p>
        </p:txBody>
      </p:sp>
      <p:sp>
        <p:nvSpPr>
          <p:cNvPr id="5" name="mini-card"/>
          <p:cNvSpPr/>
          <p:nvPr/>
        </p:nvSpPr>
        <p:spPr>
          <a:xfrm>
            <a:off x="457200" y="3977640"/>
            <a:ext cx="4297680" cy="1280160"/>
          </a:xfrm>
          <a:prstGeom prst="roundRect">
            <a:avLst>
              <a:gd name="adj" fmla="val 10000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4224528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mini-version toggle swaps the habit name on your home screen — “Read 10 pages” becomes “Read 1 page” — until the identity sticks.</a:t>
            </a:r>
            <a:endParaRPr lang="en-US" sz="1350" dirty="0"/>
          </a:p>
        </p:txBody>
      </p:sp>
      <p:sp>
        <p:nvSpPr>
          <p:cNvPr id="7" name="quote-card"/>
          <p:cNvSpPr/>
          <p:nvPr/>
        </p:nvSpPr>
        <p:spPr>
          <a:xfrm>
            <a:off x="5120640" y="1554480"/>
            <a:ext cx="6583680" cy="1554480"/>
          </a:xfrm>
          <a:prstGeom prst="roundRect">
            <a:avLst>
              <a:gd name="adj" fmla="val 8235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8" name="quote-text"/>
          <p:cNvSpPr txBox="1"/>
          <p:nvPr/>
        </p:nvSpPr>
        <p:spPr>
          <a:xfrm>
            <a:off x="5413248" y="1773936"/>
            <a:ext cx="5998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“All big things come from small beginnings. The seed of every habit is a single, tiny decision.”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Clear, Atomic Habits (p. 22)</a:t>
            </a:r>
            <a:endParaRPr lang="en-US" sz="2000" dirty="0"/>
          </a:p>
        </p:txBody>
      </p:sp>
      <p:sp>
        <p:nvSpPr>
          <p:cNvPr id="9" name="cue-card"/>
          <p:cNvSpPr/>
          <p:nvPr/>
        </p:nvSpPr>
        <p:spPr>
          <a:xfrm>
            <a:off x="5120640" y="3977640"/>
            <a:ext cx="6583680" cy="1280160"/>
          </a:xfrm>
          <a:prstGeom prst="roundRect">
            <a:avLst>
              <a:gd name="adj" fmla="val 10000"/>
            </a:avLst>
          </a:prstGeom>
          <a:solidFill>
            <a:srgbClr val="DCEBF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13248" y="4224528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 the tiny habit sits its cue — time and place — so the smallest version is always the obvious next move. Miss the big one, do the small one: the chain survives.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stacking: one habit hitched to another</a:t>
            </a:r>
            <a:endParaRPr lang="en-US" sz="3100" dirty="0"/>
          </a:p>
        </p:txBody>
      </p:sp>
      <p:sp>
        <p:nvSpPr>
          <p:cNvPr id="3" name="formula-card"/>
          <p:cNvSpPr/>
          <p:nvPr/>
        </p:nvSpPr>
        <p:spPr>
          <a:xfrm>
            <a:off x="457200" y="1280160"/>
            <a:ext cx="11274552" cy="1005840"/>
          </a:xfrm>
          <a:prstGeom prst="roundRect">
            <a:avLst>
              <a:gd name="adj" fmla="val 12727"/>
            </a:avLst>
          </a:prstGeom>
          <a:solidFill>
            <a:srgbClr val="0B24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4" name="formula"/>
          <p:cNvSpPr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5F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“After [CURRENT HABIT], I will [NEW HABIT].”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5915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habit-stacking formula, Atomic Habits</a:t>
            </a:r>
            <a:endParaRPr lang="en-US" sz="1200" dirty="0"/>
          </a:p>
        </p:txBody>
      </p:sp>
      <p:sp>
        <p:nvSpPr>
          <p:cNvPr id="6" name="stack-row"/>
          <p:cNvSpPr/>
          <p:nvPr/>
        </p:nvSpPr>
        <p:spPr>
          <a:xfrm>
            <a:off x="457200" y="3063240"/>
            <a:ext cx="11274552" cy="1371600"/>
          </a:xfrm>
          <a:prstGeom prst="roundRect">
            <a:avLst>
              <a:gd name="adj" fmla="val 9333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3520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 pour my coffee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344728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pill"/>
          <p:cNvSpPr/>
          <p:nvPr/>
        </p:nvSpPr>
        <p:spPr>
          <a:xfrm>
            <a:off x="5669280" y="3493008"/>
            <a:ext cx="2743200" cy="512064"/>
          </a:xfrm>
          <a:prstGeom prst="roundRect">
            <a:avLst>
              <a:gd name="adj" fmla="val 50000"/>
            </a:avLst>
          </a:prstGeom>
          <a:solidFill>
            <a:srgbClr val="0E7486"/>
          </a:solidFill>
          <a:ln/>
        </p:spPr>
      </p:sp>
      <p:sp>
        <p:nvSpPr>
          <p:cNvPr id="10" name="pill-label"/>
          <p:cNvSpPr/>
          <p:nvPr/>
        </p:nvSpPr>
        <p:spPr>
          <a:xfrm>
            <a:off x="5669280" y="34930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10 pages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a fresh chapter</a:t>
            </a:r>
            <a:endParaRPr lang="en-US" sz="1300" dirty="0"/>
          </a:p>
        </p:txBody>
      </p:sp>
      <p:sp>
        <p:nvSpPr>
          <p:cNvPr id="12" name="stack-row"/>
          <p:cNvSpPr/>
          <p:nvPr/>
        </p:nvSpPr>
        <p:spPr>
          <a:xfrm>
            <a:off x="457200" y="4663440"/>
            <a:ext cx="11274552" cy="1371600"/>
          </a:xfrm>
          <a:prstGeom prst="roundRect">
            <a:avLst>
              <a:gd name="adj" fmla="val 9333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 brush my teeth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504748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pill"/>
          <p:cNvSpPr/>
          <p:nvPr/>
        </p:nvSpPr>
        <p:spPr>
          <a:xfrm>
            <a:off x="5669280" y="5093208"/>
            <a:ext cx="2743200" cy="512064"/>
          </a:xfrm>
          <a:prstGeom prst="roundRect">
            <a:avLst>
              <a:gd name="adj" fmla="val 50000"/>
            </a:avLst>
          </a:prstGeom>
          <a:solidFill>
            <a:srgbClr val="0E7486"/>
          </a:solidFill>
          <a:ln/>
        </p:spPr>
      </p:sp>
      <p:sp>
        <p:nvSpPr>
          <p:cNvPr id="16" name="pill-label"/>
          <p:cNvSpPr/>
          <p:nvPr/>
        </p:nvSpPr>
        <p:spPr>
          <a:xfrm>
            <a:off x="5669280" y="50932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a clean smile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Streaks: miss once, never twice</a:t>
            </a:r>
            <a:endParaRPr lang="en-US" sz="3100" dirty="0"/>
          </a:p>
        </p:txBody>
      </p:sp>
      <p:sp>
        <p:nvSpPr>
          <p:cNvPr id="3" name="quote-card"/>
          <p:cNvSpPr/>
          <p:nvPr/>
        </p:nvSpPr>
        <p:spPr>
          <a:xfrm>
            <a:off x="457200" y="1371600"/>
            <a:ext cx="5577840" cy="1508760"/>
          </a:xfrm>
          <a:prstGeom prst="roundRect">
            <a:avLst>
              <a:gd name="adj" fmla="val 8485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4" name="quote-text"/>
          <p:cNvSpPr txBox="1"/>
          <p:nvPr/>
        </p:nvSpPr>
        <p:spPr>
          <a:xfrm>
            <a:off x="749808" y="1591056"/>
            <a:ext cx="4992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i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“Missing once is an accident. Missing twice is the start of a new habit.”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Clear, Atomic Habits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74720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streak, personal best and a 90-day heatmap keep the chain visible. “Done today” is one tap; a gap shows up as something you can feel — the app never lets day two become the new normal.</a:t>
            </a:r>
            <a:endParaRPr lang="en-US" sz="1450" dirty="0"/>
          </a:p>
        </p:txBody>
      </p:sp>
      <p:sp>
        <p:nvSpPr>
          <p:cNvPr id="6" name="pill"/>
          <p:cNvSpPr/>
          <p:nvPr/>
        </p:nvSpPr>
        <p:spPr>
          <a:xfrm>
            <a:off x="457200" y="55321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BEAD8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" name="pill-label"/>
          <p:cNvSpPr/>
          <p:nvPr/>
        </p:nvSpPr>
        <p:spPr>
          <a:xfrm>
            <a:off x="457200" y="5532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12 days</a:t>
            </a:r>
            <a:endParaRPr lang="en-US" sz="1300" dirty="0"/>
          </a:p>
        </p:txBody>
      </p:sp>
      <p:sp>
        <p:nvSpPr>
          <p:cNvPr id="8" name="pill"/>
          <p:cNvSpPr/>
          <p:nvPr/>
        </p:nvSpPr>
        <p:spPr>
          <a:xfrm>
            <a:off x="2788920" y="55321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E7486"/>
          </a:solidFill>
          <a:ln/>
        </p:spPr>
      </p:sp>
      <p:sp>
        <p:nvSpPr>
          <p:cNvPr id="9" name="pill-label"/>
          <p:cNvSpPr/>
          <p:nvPr/>
        </p:nvSpPr>
        <p:spPr>
          <a:xfrm>
            <a:off x="2788920" y="5532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✓ done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E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HEATMAP</a:t>
            </a:r>
            <a:endParaRPr lang="en-US" sz="1100" dirty="0"/>
          </a:p>
        </p:txBody>
      </p:sp>
      <p:sp>
        <p:nvSpPr>
          <p:cNvPr id="11" name="heat-cell"/>
          <p:cNvSpPr/>
          <p:nvPr/>
        </p:nvSpPr>
        <p:spPr>
          <a:xfrm>
            <a:off x="6492240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12" name="heat-cell"/>
          <p:cNvSpPr/>
          <p:nvPr/>
        </p:nvSpPr>
        <p:spPr>
          <a:xfrm>
            <a:off x="6821424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13" name="heat-cell"/>
          <p:cNvSpPr/>
          <p:nvPr/>
        </p:nvSpPr>
        <p:spPr>
          <a:xfrm>
            <a:off x="7150608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14" name="heat-cell"/>
          <p:cNvSpPr/>
          <p:nvPr/>
        </p:nvSpPr>
        <p:spPr>
          <a:xfrm>
            <a:off x="7479792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15" name="heat-cell"/>
          <p:cNvSpPr/>
          <p:nvPr/>
        </p:nvSpPr>
        <p:spPr>
          <a:xfrm>
            <a:off x="7808976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16" name="heat-cell"/>
          <p:cNvSpPr/>
          <p:nvPr/>
        </p:nvSpPr>
        <p:spPr>
          <a:xfrm>
            <a:off x="8138160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17" name="heat-cell"/>
          <p:cNvSpPr/>
          <p:nvPr/>
        </p:nvSpPr>
        <p:spPr>
          <a:xfrm>
            <a:off x="8467344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18" name="heat-cell"/>
          <p:cNvSpPr/>
          <p:nvPr/>
        </p:nvSpPr>
        <p:spPr>
          <a:xfrm>
            <a:off x="8796528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19" name="heat-cell"/>
          <p:cNvSpPr/>
          <p:nvPr/>
        </p:nvSpPr>
        <p:spPr>
          <a:xfrm>
            <a:off x="9125712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20" name="heat-cell"/>
          <p:cNvSpPr/>
          <p:nvPr/>
        </p:nvSpPr>
        <p:spPr>
          <a:xfrm>
            <a:off x="9454896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21" name="heat-cell"/>
          <p:cNvSpPr/>
          <p:nvPr/>
        </p:nvSpPr>
        <p:spPr>
          <a:xfrm>
            <a:off x="9784080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22" name="heat-cell"/>
          <p:cNvSpPr/>
          <p:nvPr/>
        </p:nvSpPr>
        <p:spPr>
          <a:xfrm>
            <a:off x="10113264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23" name="heat-cell"/>
          <p:cNvSpPr/>
          <p:nvPr/>
        </p:nvSpPr>
        <p:spPr>
          <a:xfrm>
            <a:off x="10442448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24" name="heat-cell"/>
          <p:cNvSpPr/>
          <p:nvPr/>
        </p:nvSpPr>
        <p:spPr>
          <a:xfrm>
            <a:off x="10771632" y="1828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5FD3E3"/>
          </a:solidFill>
          <a:ln/>
        </p:spPr>
      </p:sp>
      <p:sp>
        <p:nvSpPr>
          <p:cNvPr id="25" name="heat-cell"/>
          <p:cNvSpPr/>
          <p:nvPr/>
        </p:nvSpPr>
        <p:spPr>
          <a:xfrm>
            <a:off x="6492240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26" name="heat-cell"/>
          <p:cNvSpPr/>
          <p:nvPr/>
        </p:nvSpPr>
        <p:spPr>
          <a:xfrm>
            <a:off x="6821424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27" name="heat-cell"/>
          <p:cNvSpPr/>
          <p:nvPr/>
        </p:nvSpPr>
        <p:spPr>
          <a:xfrm>
            <a:off x="7150608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28" name="heat-cell"/>
          <p:cNvSpPr/>
          <p:nvPr/>
        </p:nvSpPr>
        <p:spPr>
          <a:xfrm>
            <a:off x="7479792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29" name="heat-cell"/>
          <p:cNvSpPr/>
          <p:nvPr/>
        </p:nvSpPr>
        <p:spPr>
          <a:xfrm>
            <a:off x="7808976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30" name="heat-cell"/>
          <p:cNvSpPr/>
          <p:nvPr/>
        </p:nvSpPr>
        <p:spPr>
          <a:xfrm>
            <a:off x="8138160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31" name="heat-cell"/>
          <p:cNvSpPr/>
          <p:nvPr/>
        </p:nvSpPr>
        <p:spPr>
          <a:xfrm>
            <a:off x="8467344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32" name="heat-cell"/>
          <p:cNvSpPr/>
          <p:nvPr/>
        </p:nvSpPr>
        <p:spPr>
          <a:xfrm>
            <a:off x="8796528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33" name="heat-cell"/>
          <p:cNvSpPr/>
          <p:nvPr/>
        </p:nvSpPr>
        <p:spPr>
          <a:xfrm>
            <a:off x="9125712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34" name="heat-cell"/>
          <p:cNvSpPr/>
          <p:nvPr/>
        </p:nvSpPr>
        <p:spPr>
          <a:xfrm>
            <a:off x="9454896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35" name="heat-cell"/>
          <p:cNvSpPr/>
          <p:nvPr/>
        </p:nvSpPr>
        <p:spPr>
          <a:xfrm>
            <a:off x="9784080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36" name="heat-cell"/>
          <p:cNvSpPr/>
          <p:nvPr/>
        </p:nvSpPr>
        <p:spPr>
          <a:xfrm>
            <a:off x="10113264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37" name="heat-cell"/>
          <p:cNvSpPr/>
          <p:nvPr/>
        </p:nvSpPr>
        <p:spPr>
          <a:xfrm>
            <a:off x="10442448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5FD3E3"/>
          </a:solidFill>
          <a:ln/>
        </p:spPr>
      </p:sp>
      <p:sp>
        <p:nvSpPr>
          <p:cNvPr id="38" name="heat-cell"/>
          <p:cNvSpPr/>
          <p:nvPr/>
        </p:nvSpPr>
        <p:spPr>
          <a:xfrm>
            <a:off x="10771632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39" name="heat-cell"/>
          <p:cNvSpPr/>
          <p:nvPr/>
        </p:nvSpPr>
        <p:spPr>
          <a:xfrm>
            <a:off x="6492240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40" name="heat-cell"/>
          <p:cNvSpPr/>
          <p:nvPr/>
        </p:nvSpPr>
        <p:spPr>
          <a:xfrm>
            <a:off x="6821424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41" name="heat-cell"/>
          <p:cNvSpPr/>
          <p:nvPr/>
        </p:nvSpPr>
        <p:spPr>
          <a:xfrm>
            <a:off x="7150608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42" name="heat-cell"/>
          <p:cNvSpPr/>
          <p:nvPr/>
        </p:nvSpPr>
        <p:spPr>
          <a:xfrm>
            <a:off x="7479792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43" name="heat-cell"/>
          <p:cNvSpPr/>
          <p:nvPr/>
        </p:nvSpPr>
        <p:spPr>
          <a:xfrm>
            <a:off x="7808976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44" name="heat-cell"/>
          <p:cNvSpPr/>
          <p:nvPr/>
        </p:nvSpPr>
        <p:spPr>
          <a:xfrm>
            <a:off x="8138160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45" name="heat-cell"/>
          <p:cNvSpPr/>
          <p:nvPr/>
        </p:nvSpPr>
        <p:spPr>
          <a:xfrm>
            <a:off x="8467344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46" name="heat-cell"/>
          <p:cNvSpPr/>
          <p:nvPr/>
        </p:nvSpPr>
        <p:spPr>
          <a:xfrm>
            <a:off x="8796528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47" name="heat-cell"/>
          <p:cNvSpPr/>
          <p:nvPr/>
        </p:nvSpPr>
        <p:spPr>
          <a:xfrm>
            <a:off x="9125712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48" name="heat-cell"/>
          <p:cNvSpPr/>
          <p:nvPr/>
        </p:nvSpPr>
        <p:spPr>
          <a:xfrm>
            <a:off x="9454896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49" name="heat-cell"/>
          <p:cNvSpPr/>
          <p:nvPr/>
        </p:nvSpPr>
        <p:spPr>
          <a:xfrm>
            <a:off x="9784080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50" name="heat-cell"/>
          <p:cNvSpPr/>
          <p:nvPr/>
        </p:nvSpPr>
        <p:spPr>
          <a:xfrm>
            <a:off x="10113264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51" name="heat-cell"/>
          <p:cNvSpPr/>
          <p:nvPr/>
        </p:nvSpPr>
        <p:spPr>
          <a:xfrm>
            <a:off x="10442448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5FD3E3"/>
          </a:solidFill>
          <a:ln/>
        </p:spPr>
      </p:sp>
      <p:sp>
        <p:nvSpPr>
          <p:cNvPr id="52" name="heat-cell"/>
          <p:cNvSpPr/>
          <p:nvPr/>
        </p:nvSpPr>
        <p:spPr>
          <a:xfrm>
            <a:off x="10771632" y="24871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5FD3E3"/>
          </a:solidFill>
          <a:ln/>
        </p:spPr>
      </p:sp>
      <p:sp>
        <p:nvSpPr>
          <p:cNvPr id="53" name="heat-cell"/>
          <p:cNvSpPr/>
          <p:nvPr/>
        </p:nvSpPr>
        <p:spPr>
          <a:xfrm>
            <a:off x="6492240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54" name="heat-cell"/>
          <p:cNvSpPr/>
          <p:nvPr/>
        </p:nvSpPr>
        <p:spPr>
          <a:xfrm>
            <a:off x="6821424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55" name="heat-cell"/>
          <p:cNvSpPr/>
          <p:nvPr/>
        </p:nvSpPr>
        <p:spPr>
          <a:xfrm>
            <a:off x="7150608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56" name="heat-cell"/>
          <p:cNvSpPr/>
          <p:nvPr/>
        </p:nvSpPr>
        <p:spPr>
          <a:xfrm>
            <a:off x="7479792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57" name="heat-cell"/>
          <p:cNvSpPr/>
          <p:nvPr/>
        </p:nvSpPr>
        <p:spPr>
          <a:xfrm>
            <a:off x="7808976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58" name="heat-cell"/>
          <p:cNvSpPr/>
          <p:nvPr/>
        </p:nvSpPr>
        <p:spPr>
          <a:xfrm>
            <a:off x="8138160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59" name="heat-cell"/>
          <p:cNvSpPr/>
          <p:nvPr/>
        </p:nvSpPr>
        <p:spPr>
          <a:xfrm>
            <a:off x="8467344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60" name="heat-cell"/>
          <p:cNvSpPr/>
          <p:nvPr/>
        </p:nvSpPr>
        <p:spPr>
          <a:xfrm>
            <a:off x="8796528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61" name="heat-cell"/>
          <p:cNvSpPr/>
          <p:nvPr/>
        </p:nvSpPr>
        <p:spPr>
          <a:xfrm>
            <a:off x="9125712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62" name="heat-cell"/>
          <p:cNvSpPr/>
          <p:nvPr/>
        </p:nvSpPr>
        <p:spPr>
          <a:xfrm>
            <a:off x="9454896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63" name="heat-cell"/>
          <p:cNvSpPr/>
          <p:nvPr/>
        </p:nvSpPr>
        <p:spPr>
          <a:xfrm>
            <a:off x="9784080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64" name="heat-cell"/>
          <p:cNvSpPr/>
          <p:nvPr/>
        </p:nvSpPr>
        <p:spPr>
          <a:xfrm>
            <a:off x="10113264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65" name="heat-cell"/>
          <p:cNvSpPr/>
          <p:nvPr/>
        </p:nvSpPr>
        <p:spPr>
          <a:xfrm>
            <a:off x="10442448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66" name="heat-cell"/>
          <p:cNvSpPr/>
          <p:nvPr/>
        </p:nvSpPr>
        <p:spPr>
          <a:xfrm>
            <a:off x="10771632" y="2816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67" name="heat-cell"/>
          <p:cNvSpPr/>
          <p:nvPr/>
        </p:nvSpPr>
        <p:spPr>
          <a:xfrm>
            <a:off x="6492240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68" name="heat-cell"/>
          <p:cNvSpPr/>
          <p:nvPr/>
        </p:nvSpPr>
        <p:spPr>
          <a:xfrm>
            <a:off x="6821424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69" name="heat-cell"/>
          <p:cNvSpPr/>
          <p:nvPr/>
        </p:nvSpPr>
        <p:spPr>
          <a:xfrm>
            <a:off x="7150608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70" name="heat-cell"/>
          <p:cNvSpPr/>
          <p:nvPr/>
        </p:nvSpPr>
        <p:spPr>
          <a:xfrm>
            <a:off x="7479792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71" name="heat-cell"/>
          <p:cNvSpPr/>
          <p:nvPr/>
        </p:nvSpPr>
        <p:spPr>
          <a:xfrm>
            <a:off x="7808976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72" name="heat-cell"/>
          <p:cNvSpPr/>
          <p:nvPr/>
        </p:nvSpPr>
        <p:spPr>
          <a:xfrm>
            <a:off x="8138160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73" name="heat-cell"/>
          <p:cNvSpPr/>
          <p:nvPr/>
        </p:nvSpPr>
        <p:spPr>
          <a:xfrm>
            <a:off x="8467344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74" name="heat-cell"/>
          <p:cNvSpPr/>
          <p:nvPr/>
        </p:nvSpPr>
        <p:spPr>
          <a:xfrm>
            <a:off x="8796528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75" name="heat-cell"/>
          <p:cNvSpPr/>
          <p:nvPr/>
        </p:nvSpPr>
        <p:spPr>
          <a:xfrm>
            <a:off x="9125712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76" name="heat-cell"/>
          <p:cNvSpPr/>
          <p:nvPr/>
        </p:nvSpPr>
        <p:spPr>
          <a:xfrm>
            <a:off x="9454896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77" name="heat-cell"/>
          <p:cNvSpPr/>
          <p:nvPr/>
        </p:nvSpPr>
        <p:spPr>
          <a:xfrm>
            <a:off x="9784080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78" name="heat-cell"/>
          <p:cNvSpPr/>
          <p:nvPr/>
        </p:nvSpPr>
        <p:spPr>
          <a:xfrm>
            <a:off x="10113264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79" name="heat-cell"/>
          <p:cNvSpPr/>
          <p:nvPr/>
        </p:nvSpPr>
        <p:spPr>
          <a:xfrm>
            <a:off x="10442448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5FD3E3"/>
          </a:solidFill>
          <a:ln/>
        </p:spPr>
      </p:sp>
      <p:sp>
        <p:nvSpPr>
          <p:cNvPr id="80" name="heat-cell"/>
          <p:cNvSpPr/>
          <p:nvPr/>
        </p:nvSpPr>
        <p:spPr>
          <a:xfrm>
            <a:off x="10771632" y="3145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5FD3E3"/>
          </a:solidFill>
          <a:ln/>
        </p:spPr>
      </p:sp>
      <p:sp>
        <p:nvSpPr>
          <p:cNvPr id="81" name="heat-cell"/>
          <p:cNvSpPr/>
          <p:nvPr/>
        </p:nvSpPr>
        <p:spPr>
          <a:xfrm>
            <a:off x="6492240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82" name="heat-cell"/>
          <p:cNvSpPr/>
          <p:nvPr/>
        </p:nvSpPr>
        <p:spPr>
          <a:xfrm>
            <a:off x="6821424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83" name="heat-cell"/>
          <p:cNvSpPr/>
          <p:nvPr/>
        </p:nvSpPr>
        <p:spPr>
          <a:xfrm>
            <a:off x="7150608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84" name="heat-cell"/>
          <p:cNvSpPr/>
          <p:nvPr/>
        </p:nvSpPr>
        <p:spPr>
          <a:xfrm>
            <a:off x="7479792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85" name="heat-cell"/>
          <p:cNvSpPr/>
          <p:nvPr/>
        </p:nvSpPr>
        <p:spPr>
          <a:xfrm>
            <a:off x="7808976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86" name="heat-cell"/>
          <p:cNvSpPr/>
          <p:nvPr/>
        </p:nvSpPr>
        <p:spPr>
          <a:xfrm>
            <a:off x="8138160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87" name="heat-cell"/>
          <p:cNvSpPr/>
          <p:nvPr/>
        </p:nvSpPr>
        <p:spPr>
          <a:xfrm>
            <a:off x="8467344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88" name="heat-cell"/>
          <p:cNvSpPr/>
          <p:nvPr/>
        </p:nvSpPr>
        <p:spPr>
          <a:xfrm>
            <a:off x="8796528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89" name="heat-cell"/>
          <p:cNvSpPr/>
          <p:nvPr/>
        </p:nvSpPr>
        <p:spPr>
          <a:xfrm>
            <a:off x="9125712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90" name="heat-cell"/>
          <p:cNvSpPr/>
          <p:nvPr/>
        </p:nvSpPr>
        <p:spPr>
          <a:xfrm>
            <a:off x="9454896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91" name="heat-cell"/>
          <p:cNvSpPr/>
          <p:nvPr/>
        </p:nvSpPr>
        <p:spPr>
          <a:xfrm>
            <a:off x="9784080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92" name="heat-cell"/>
          <p:cNvSpPr/>
          <p:nvPr/>
        </p:nvSpPr>
        <p:spPr>
          <a:xfrm>
            <a:off x="10113264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93" name="heat-cell"/>
          <p:cNvSpPr/>
          <p:nvPr/>
        </p:nvSpPr>
        <p:spPr>
          <a:xfrm>
            <a:off x="10442448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94" name="heat-cell"/>
          <p:cNvSpPr/>
          <p:nvPr/>
        </p:nvSpPr>
        <p:spPr>
          <a:xfrm>
            <a:off x="10771632" y="3474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5FD3E3"/>
          </a:solidFill>
          <a:ln/>
        </p:spPr>
      </p:sp>
      <p:sp>
        <p:nvSpPr>
          <p:cNvPr id="95" name="heat-cell"/>
          <p:cNvSpPr/>
          <p:nvPr/>
        </p:nvSpPr>
        <p:spPr>
          <a:xfrm>
            <a:off x="6492240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96" name="heat-cell"/>
          <p:cNvSpPr/>
          <p:nvPr/>
        </p:nvSpPr>
        <p:spPr>
          <a:xfrm>
            <a:off x="6821424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97" name="heat-cell"/>
          <p:cNvSpPr/>
          <p:nvPr/>
        </p:nvSpPr>
        <p:spPr>
          <a:xfrm>
            <a:off x="7150608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98" name="heat-cell"/>
          <p:cNvSpPr/>
          <p:nvPr/>
        </p:nvSpPr>
        <p:spPr>
          <a:xfrm>
            <a:off x="7479792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99" name="heat-cell"/>
          <p:cNvSpPr/>
          <p:nvPr/>
        </p:nvSpPr>
        <p:spPr>
          <a:xfrm>
            <a:off x="7808976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100" name="heat-cell"/>
          <p:cNvSpPr/>
          <p:nvPr/>
        </p:nvSpPr>
        <p:spPr>
          <a:xfrm>
            <a:off x="8138160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101" name="heat-cell"/>
          <p:cNvSpPr/>
          <p:nvPr/>
        </p:nvSpPr>
        <p:spPr>
          <a:xfrm>
            <a:off x="8467344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102" name="heat-cell"/>
          <p:cNvSpPr/>
          <p:nvPr/>
        </p:nvSpPr>
        <p:spPr>
          <a:xfrm>
            <a:off x="8796528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103" name="heat-cell"/>
          <p:cNvSpPr/>
          <p:nvPr/>
        </p:nvSpPr>
        <p:spPr>
          <a:xfrm>
            <a:off x="9125712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104" name="heat-cell"/>
          <p:cNvSpPr/>
          <p:nvPr/>
        </p:nvSpPr>
        <p:spPr>
          <a:xfrm>
            <a:off x="9454896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105" name="heat-cell"/>
          <p:cNvSpPr/>
          <p:nvPr/>
        </p:nvSpPr>
        <p:spPr>
          <a:xfrm>
            <a:off x="9784080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106" name="heat-cell"/>
          <p:cNvSpPr/>
          <p:nvPr/>
        </p:nvSpPr>
        <p:spPr>
          <a:xfrm>
            <a:off x="10113264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E7486"/>
          </a:solidFill>
          <a:ln/>
        </p:spPr>
      </p:sp>
      <p:sp>
        <p:nvSpPr>
          <p:cNvPr id="107" name="heat-cell"/>
          <p:cNvSpPr/>
          <p:nvPr/>
        </p:nvSpPr>
        <p:spPr>
          <a:xfrm>
            <a:off x="10442448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5FD3E3"/>
          </a:solidFill>
          <a:ln/>
        </p:spPr>
      </p:sp>
      <p:sp>
        <p:nvSpPr>
          <p:cNvPr id="108" name="heat-cell"/>
          <p:cNvSpPr/>
          <p:nvPr/>
        </p:nvSpPr>
        <p:spPr>
          <a:xfrm>
            <a:off x="10771632" y="3803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EB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492240" y="436168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DCEBF0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6803136" y="43342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7955280" y="436168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0E7486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8266176" y="43342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113" name="Shape 111"/>
          <p:cNvSpPr/>
          <p:nvPr/>
        </p:nvSpPr>
        <p:spPr>
          <a:xfrm>
            <a:off x="9235440" y="436168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5FD3E3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9546336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115" name="Text 113"/>
          <p:cNvSpPr txBox="1"/>
          <p:nvPr/>
        </p:nvSpPr>
        <p:spPr>
          <a:xfrm>
            <a:off x="6492240" y="4892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4600" dirty="0"/>
          </a:p>
        </p:txBody>
      </p:sp>
      <p:sp>
        <p:nvSpPr>
          <p:cNvPr id="116" name="Text 114"/>
          <p:cNvSpPr txBox="1"/>
          <p:nvPr/>
        </p:nvSpPr>
        <p:spPr>
          <a:xfrm>
            <a:off x="8001000" y="5257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 in the last 90 days — each one a vote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Scorecard: rate the day, not the dream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1’s method — every evening, + if it moved you forward, − if it set you back, = if you stayed level. The weekly pattern is what the review reads.</a:t>
            </a:r>
            <a:endParaRPr lang="en-US" sz="1450" dirty="0"/>
          </a:p>
        </p:txBody>
      </p:sp>
      <p:sp>
        <p:nvSpPr>
          <p:cNvPr id="4" name="score-cell"/>
          <p:cNvSpPr/>
          <p:nvPr/>
        </p:nvSpPr>
        <p:spPr>
          <a:xfrm>
            <a:off x="457200" y="2148840"/>
            <a:ext cx="3489350" cy="2286000"/>
          </a:xfrm>
          <a:prstGeom prst="roundRect">
            <a:avLst>
              <a:gd name="adj" fmla="val 5600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habit kept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307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moved the identity forward.</a:t>
            </a:r>
            <a:endParaRPr lang="en-US" sz="1300" dirty="0"/>
          </a:p>
        </p:txBody>
      </p:sp>
      <p:sp>
        <p:nvSpPr>
          <p:cNvPr id="8" name="score-cell"/>
          <p:cNvSpPr/>
          <p:nvPr/>
        </p:nvSpPr>
        <p:spPr>
          <a:xfrm>
            <a:off x="4348886" y="2148840"/>
            <a:ext cx="3489350" cy="2286000"/>
          </a:xfrm>
          <a:prstGeom prst="roundRect">
            <a:avLst>
              <a:gd name="adj" fmla="val 5600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23206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5000" dirty="0"/>
          </a:p>
        </p:txBody>
      </p:sp>
      <p:sp>
        <p:nvSpPr>
          <p:cNvPr id="10" name="Text 8"/>
          <p:cNvSpPr txBox="1"/>
          <p:nvPr/>
        </p:nvSpPr>
        <p:spPr>
          <a:xfrm>
            <a:off x="4623206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Slipped today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23206" y="37307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verdict — just data for the tweak.</a:t>
            </a:r>
            <a:endParaRPr lang="en-US" sz="1300" dirty="0"/>
          </a:p>
        </p:txBody>
      </p:sp>
      <p:sp>
        <p:nvSpPr>
          <p:cNvPr id="12" name="score-cell"/>
          <p:cNvSpPr/>
          <p:nvPr/>
        </p:nvSpPr>
        <p:spPr>
          <a:xfrm>
            <a:off x="8240573" y="2148840"/>
            <a:ext cx="3489350" cy="2286000"/>
          </a:xfrm>
          <a:prstGeom prst="roundRect">
            <a:avLst>
              <a:gd name="adj" fmla="val 5600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14893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5E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8514893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Stayed level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14893" y="37307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forward, no step back.</a:t>
            </a:r>
            <a:endParaRPr lang="en-US" sz="1300" dirty="0"/>
          </a:p>
        </p:txBody>
      </p:sp>
      <p:sp>
        <p:nvSpPr>
          <p:cNvPr id="16" name="quote-card"/>
          <p:cNvSpPr/>
          <p:nvPr/>
        </p:nvSpPr>
        <p:spPr>
          <a:xfrm>
            <a:off x="457200" y="4754880"/>
            <a:ext cx="11274552" cy="1188720"/>
          </a:xfrm>
          <a:prstGeom prst="roundRect">
            <a:avLst>
              <a:gd name="adj" fmla="val 10769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7" name="quote-text"/>
          <p:cNvSpPr txBox="1"/>
          <p:nvPr/>
        </p:nvSpPr>
        <p:spPr>
          <a:xfrm>
            <a:off x="749808" y="4974336"/>
            <a:ext cx="10689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“Success is the product of daily habits — not once-in-a-lifetime transformations.”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Clear, Atomic Habits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over results</a:t>
            </a:r>
            <a:endParaRPr lang="en-US" sz="3100" dirty="0"/>
          </a:p>
        </p:txBody>
      </p:sp>
      <p:sp>
        <p:nvSpPr>
          <p:cNvPr id="3" name="quote-card"/>
          <p:cNvSpPr/>
          <p:nvPr/>
        </p:nvSpPr>
        <p:spPr>
          <a:xfrm>
            <a:off x="457200" y="1371600"/>
            <a:ext cx="5212080" cy="1737360"/>
          </a:xfrm>
          <a:prstGeom prst="roundRect">
            <a:avLst>
              <a:gd name="adj" fmla="val 7368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4" name="quote-text"/>
          <p:cNvSpPr txBox="1"/>
          <p:nvPr/>
        </p:nvSpPr>
        <p:spPr>
          <a:xfrm>
            <a:off x="749808" y="1591056"/>
            <a:ext cx="46268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should be far more concerned with your current trajectory than with your current results.”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Clear, Atomic Habits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12-week completion trend, Level/XP and the goal ring measure the system while it runs — not one Monday morning. A missed day barely bends the curve; showing up compounds it.</a:t>
            </a:r>
            <a:endParaRPr lang="en-US" sz="1450" dirty="0"/>
          </a:p>
        </p:txBody>
      </p:sp>
      <p:graphicFrame>
        <p:nvGraphicFramePr>
          <p:cNvPr id="6" name="trend-chart" descr=""/>
          <p:cNvGraphicFramePr/>
          <p:nvPr/>
        </p:nvGraphicFramePr>
        <p:xfrm>
          <a:off x="5989320" y="1371600"/>
          <a:ext cx="5742432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89320" y="5532120"/>
            <a:ext cx="5742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your curve is drawn from real check-ins.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Reminders: explain first, then notify</a:t>
            </a:r>
            <a:endParaRPr lang="en-US" sz="3100" dirty="0"/>
          </a:p>
        </p:txBody>
      </p:sp>
      <p:sp>
        <p:nvSpPr>
          <p:cNvPr id="3" name="num-circle"/>
          <p:cNvSpPr/>
          <p:nvPr/>
        </p:nvSpPr>
        <p:spPr>
          <a:xfrm>
            <a:off x="457200" y="1435608"/>
            <a:ext cx="457200" cy="457200"/>
          </a:xfrm>
          <a:prstGeom prst="ellipse">
            <a:avLst/>
          </a:prstGeom>
          <a:solidFill>
            <a:srgbClr val="0E7486"/>
          </a:solidFill>
          <a:ln/>
        </p:spPr>
      </p:sp>
      <p:sp>
        <p:nvSpPr>
          <p:cNvPr id="4" name="num"/>
          <p:cNvSpPr/>
          <p:nvPr/>
        </p:nvSpPr>
        <p:spPr>
          <a:xfrm>
            <a:off x="45720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Per-habit reminder time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73936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habit carries its own time — 07:00 water, 08:30 reading — and reschedules itself every time the list loads.</a:t>
            </a:r>
            <a:endParaRPr lang="en-US" sz="1300" dirty="0"/>
          </a:p>
        </p:txBody>
      </p:sp>
      <p:sp>
        <p:nvSpPr>
          <p:cNvPr id="7" name="num-circle"/>
          <p:cNvSpPr/>
          <p:nvPr/>
        </p:nvSpPr>
        <p:spPr>
          <a:xfrm>
            <a:off x="457200" y="2642616"/>
            <a:ext cx="457200" cy="457200"/>
          </a:xfrm>
          <a:prstGeom prst="ellipse">
            <a:avLst/>
          </a:prstGeom>
          <a:solidFill>
            <a:srgbClr val="0E7486"/>
          </a:solidFill>
          <a:ln/>
        </p:spPr>
      </p:sp>
      <p:sp>
        <p:nvSpPr>
          <p:cNvPr id="8" name="num"/>
          <p:cNvSpPr/>
          <p:nvPr/>
        </p:nvSpPr>
        <p:spPr>
          <a:xfrm>
            <a:off x="45720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57860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leaves the phone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98094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notifications are scheduled on-device. No push service, no tracking, no marketing — ever.</a:t>
            </a:r>
            <a:endParaRPr lang="en-US" sz="1300" dirty="0"/>
          </a:p>
        </p:txBody>
      </p:sp>
      <p:sp>
        <p:nvSpPr>
          <p:cNvPr id="11" name="num-circle"/>
          <p:cNvSpPr/>
          <p:nvPr/>
        </p:nvSpPr>
        <p:spPr>
          <a:xfrm>
            <a:off x="457200" y="3849624"/>
            <a:ext cx="457200" cy="457200"/>
          </a:xfrm>
          <a:prstGeom prst="ellipse">
            <a:avLst/>
          </a:prstGeom>
          <a:solidFill>
            <a:srgbClr val="0E7486"/>
          </a:solidFill>
          <a:ln/>
        </p:spPr>
      </p:sp>
      <p:sp>
        <p:nvSpPr>
          <p:cNvPr id="12" name="num"/>
          <p:cNvSpPr/>
          <p:nvPr/>
        </p:nvSpPr>
        <p:spPr>
          <a:xfrm>
            <a:off x="45720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78561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with consent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187952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in-app explanation comes first; the system dialog opens only after you tap Continue. Settings always shows Allowed / Not asked / Blocked.</a:t>
            </a:r>
            <a:endParaRPr lang="en-US" sz="1300" dirty="0"/>
          </a:p>
        </p:txBody>
      </p:sp>
      <p:sp>
        <p:nvSpPr>
          <p:cNvPr id="15" name="quote-card"/>
          <p:cNvSpPr/>
          <p:nvPr/>
        </p:nvSpPr>
        <p:spPr>
          <a:xfrm>
            <a:off x="457200" y="5120640"/>
            <a:ext cx="7498080" cy="1143000"/>
          </a:xfrm>
          <a:prstGeom prst="roundRect">
            <a:avLst>
              <a:gd name="adj" fmla="val 11200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6" name="quote-text"/>
          <p:cNvSpPr txBox="1"/>
          <p:nvPr/>
        </p:nvSpPr>
        <p:spPr>
          <a:xfrm>
            <a:off x="749808" y="5340096"/>
            <a:ext cx="6912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50" i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most practical way to change who you are is to change what you do.”</a:t>
            </a:r>
            <a:endParaRPr lang="en-US" sz="15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Clear, Atomic Habits</a:t>
            </a:r>
            <a:endParaRPr lang="en-US" sz="1550" dirty="0"/>
          </a:p>
        </p:txBody>
      </p:sp>
      <p:sp>
        <p:nvSpPr>
          <p:cNvPr id="17" name="shot-frame"/>
          <p:cNvSpPr/>
          <p:nvPr/>
        </p:nvSpPr>
        <p:spPr>
          <a:xfrm>
            <a:off x="9345168" y="1234440"/>
            <a:ext cx="2468880" cy="5120640"/>
          </a:xfrm>
          <a:prstGeom prst="roundRect">
            <a:avLst>
              <a:gd name="adj" fmla="val 6667"/>
            </a:avLst>
          </a:prstGeom>
          <a:solidFill>
            <a:srgbClr val="0B24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pic>
        <p:nvPicPr>
          <p:cNvPr id="18" name="shot" descr="C:\Users\admin\AppData\Local\Temp\opencode\shot\mobile-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1325880"/>
            <a:ext cx="228600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review: one small tweak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 every week: what won, what slipped, and exactly one change — never two.</a:t>
            </a:r>
            <a:endParaRPr lang="en-US" sz="1450" dirty="0"/>
          </a:p>
        </p:txBody>
      </p:sp>
      <p:sp>
        <p:nvSpPr>
          <p:cNvPr id="4" name="review-card"/>
          <p:cNvSpPr/>
          <p:nvPr/>
        </p:nvSpPr>
        <p:spPr>
          <a:xfrm>
            <a:off x="457200" y="2103120"/>
            <a:ext cx="3489350" cy="2103120"/>
          </a:xfrm>
          <a:prstGeom prst="roundRect">
            <a:avLst>
              <a:gd name="adj" fmla="val 6087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5" name="review-pill"/>
          <p:cNvSpPr/>
          <p:nvPr/>
        </p:nvSpPr>
        <p:spPr>
          <a:xfrm>
            <a:off x="731520" y="23317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E748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6/7 days. Longest chain: reading, 12 days straight.</a:t>
            </a:r>
            <a:endParaRPr lang="en-US" sz="1350" dirty="0"/>
          </a:p>
        </p:txBody>
      </p:sp>
      <p:sp>
        <p:nvSpPr>
          <p:cNvPr id="8" name="review-card"/>
          <p:cNvSpPr/>
          <p:nvPr/>
        </p:nvSpPr>
        <p:spPr>
          <a:xfrm>
            <a:off x="4348886" y="2103120"/>
            <a:ext cx="3489350" cy="2103120"/>
          </a:xfrm>
          <a:prstGeom prst="roundRect">
            <a:avLst>
              <a:gd name="adj" fmla="val 6087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9" name="review-pill"/>
          <p:cNvSpPr/>
          <p:nvPr/>
        </p:nvSpPr>
        <p:spPr>
          <a:xfrm>
            <a:off x="4623206" y="23317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4623206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623206" y="29718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slipped twice — both on late-at-work evenings.</a:t>
            </a:r>
            <a:endParaRPr lang="en-US" sz="1350" dirty="0"/>
          </a:p>
        </p:txBody>
      </p:sp>
      <p:sp>
        <p:nvSpPr>
          <p:cNvPr id="12" name="review-card"/>
          <p:cNvSpPr/>
          <p:nvPr/>
        </p:nvSpPr>
        <p:spPr>
          <a:xfrm>
            <a:off x="8240573" y="2103120"/>
            <a:ext cx="3489350" cy="2103120"/>
          </a:xfrm>
          <a:prstGeom prst="roundRect">
            <a:avLst>
              <a:gd name="adj" fmla="val 6087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3" name="review-pill"/>
          <p:cNvSpPr/>
          <p:nvPr/>
        </p:nvSpPr>
        <p:spPr>
          <a:xfrm>
            <a:off x="8514893" y="23317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6323C"/>
          </a:solidFill>
          <a:ln/>
        </p:spPr>
      </p:sp>
      <p:sp>
        <p:nvSpPr>
          <p:cNvPr id="14" name="Text 12"/>
          <p:cNvSpPr/>
          <p:nvPr/>
        </p:nvSpPr>
        <p:spPr>
          <a:xfrm>
            <a:off x="8514893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tweak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514893" y="29718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gym cue to 07:00, before work can negotiate.</a:t>
            </a:r>
            <a:endParaRPr lang="en-US" sz="1350" dirty="0"/>
          </a:p>
        </p:txBody>
      </p:sp>
      <p:sp>
        <p:nvSpPr>
          <p:cNvPr id="16" name="quote-card"/>
          <p:cNvSpPr/>
          <p:nvPr/>
        </p:nvSpPr>
        <p:spPr>
          <a:xfrm>
            <a:off x="457200" y="4663440"/>
            <a:ext cx="11274552" cy="1417320"/>
          </a:xfrm>
          <a:prstGeom prst="roundRect">
            <a:avLst>
              <a:gd name="adj" fmla="val 9032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7" name="quote-text"/>
          <p:cNvSpPr txBox="1"/>
          <p:nvPr/>
        </p:nvSpPr>
        <p:spPr>
          <a:xfrm>
            <a:off x="749808" y="4882896"/>
            <a:ext cx="10689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i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 order to improve for good, you need to solve problems at the systems level. Fix the inputs and the outputs will fix themselves.”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Clear, Atomic Habits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be calm — and trustworthy</a:t>
            </a:r>
            <a:endParaRPr lang="en-US" sz="3100" dirty="0"/>
          </a:p>
        </p:txBody>
      </p:sp>
      <p:sp>
        <p:nvSpPr>
          <p:cNvPr id="3" name="trust-card"/>
          <p:cNvSpPr/>
          <p:nvPr/>
        </p:nvSpPr>
        <p:spPr>
          <a:xfrm>
            <a:off x="457200" y="1325880"/>
            <a:ext cx="5394960" cy="2057400"/>
          </a:xfrm>
          <a:prstGeom prst="roundRect">
            <a:avLst>
              <a:gd name="adj" fmla="val 6222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Glass, not glare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Frosted panels over a morning-haze backdrop, teal pill buttons, dark + light themes, contrast tuned to WCAG AA.</a:t>
            </a:r>
            <a:endParaRPr lang="en-US" sz="1350" dirty="0"/>
          </a:p>
        </p:txBody>
      </p:sp>
      <p:sp>
        <p:nvSpPr>
          <p:cNvPr id="6" name="trust-card"/>
          <p:cNvSpPr/>
          <p:nvPr/>
        </p:nvSpPr>
        <p:spPr>
          <a:xfrm>
            <a:off x="6336792" y="1325880"/>
            <a:ext cx="5394960" cy="2057400"/>
          </a:xfrm>
          <a:prstGeom prst="roundRect">
            <a:avLst>
              <a:gd name="adj" fmla="val 6222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11112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default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11112" y="2057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privacy notice in Settings: what is stored, where, and the fact that nothing tracks you. Export everything as JSON, any time.</a:t>
            </a:r>
            <a:endParaRPr lang="en-US" sz="1350" dirty="0"/>
          </a:p>
        </p:txBody>
      </p:sp>
      <p:sp>
        <p:nvSpPr>
          <p:cNvPr id="9" name="trust-card"/>
          <p:cNvSpPr/>
          <p:nvPr/>
        </p:nvSpPr>
        <p:spPr>
          <a:xfrm>
            <a:off x="457200" y="3566160"/>
            <a:ext cx="5394960" cy="2057400"/>
          </a:xfrm>
          <a:prstGeom prst="roundRect">
            <a:avLst>
              <a:gd name="adj" fmla="val 6222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97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px touch targets, visible focus rings, live regions for errors, and reduced-motion respected everywhere.</a:t>
            </a:r>
            <a:endParaRPr lang="en-US" sz="1350" dirty="0"/>
          </a:p>
        </p:txBody>
      </p:sp>
      <p:sp>
        <p:nvSpPr>
          <p:cNvPr id="12" name="trust-card"/>
          <p:cNvSpPr/>
          <p:nvPr/>
        </p:nvSpPr>
        <p:spPr>
          <a:xfrm>
            <a:off x="6336792" y="3566160"/>
            <a:ext cx="5394960" cy="2057400"/>
          </a:xfrm>
          <a:prstGeom prst="roundRect">
            <a:avLst>
              <a:gd name="adj" fmla="val 6222"/>
            </a:avLst>
          </a:prstGeom>
          <a:solidFill>
            <a:srgbClr val="EAF4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11112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misuse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11112" y="4297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bcrypt, strict per-user scoping (404, not 403), rate limits — and a two-step confirm on anything destructive.</a:t>
            </a:r>
            <a:endParaRPr lang="en-US" sz="1350" dirty="0"/>
          </a:p>
        </p:txBody>
      </p:sp>
      <p:sp>
        <p:nvSpPr>
          <p:cNvPr id="15" name="env-quote"/>
          <p:cNvSpPr/>
          <p:nvPr/>
        </p:nvSpPr>
        <p:spPr>
          <a:xfrm>
            <a:off x="457200" y="5760720"/>
            <a:ext cx="11274552" cy="566928"/>
          </a:xfrm>
          <a:prstGeom prst="roundRect">
            <a:avLst>
              <a:gd name="adj" fmla="val 22581"/>
            </a:avLst>
          </a:prstGeom>
          <a:solidFill>
            <a:srgbClr val="DCEB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8704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more disciplined your environment is, the less disciplined you need to be.”  — James Clear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B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Atomic — three steps</a:t>
            </a:r>
            <a:endParaRPr lang="en-US" sz="3200" dirty="0"/>
          </a:p>
        </p:txBody>
      </p:sp>
      <p:sp>
        <p:nvSpPr>
          <p:cNvPr id="3" name="step-card"/>
          <p:cNvSpPr/>
          <p:nvPr/>
        </p:nvSpPr>
        <p:spPr>
          <a:xfrm>
            <a:off x="457200" y="1371600"/>
            <a:ext cx="3489350" cy="2331720"/>
          </a:xfrm>
          <a:prstGeom prst="roundRect">
            <a:avLst>
              <a:gd name="adj" fmla="val 5490"/>
            </a:avLst>
          </a:prstGeom>
          <a:solidFill>
            <a:srgbClr val="123A4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4" name="num-circle"/>
          <p:cNvSpPr/>
          <p:nvPr/>
        </p:nvSpPr>
        <p:spPr>
          <a:xfrm>
            <a:off x="731520" y="1627632"/>
            <a:ext cx="457200" cy="457200"/>
          </a:xfrm>
          <a:prstGeom prst="ellipse">
            <a:avLst/>
          </a:prstGeom>
          <a:solidFill>
            <a:srgbClr val="5FD3E3"/>
          </a:solidFill>
          <a:ln/>
        </p:spPr>
      </p:sp>
      <p:sp>
        <p:nvSpPr>
          <p:cNvPr id="5" name="num"/>
          <p:cNvSpPr/>
          <p:nvPr/>
        </p:nvSpPr>
        <p:spPr>
          <a:xfrm>
            <a:off x="73152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4FB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APK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Atomic-habit-tracker.apk from the Desktop to your phone and open it. Allow the install when Android asks.</a:t>
            </a:r>
            <a:endParaRPr lang="en-US" sz="1300" dirty="0"/>
          </a:p>
        </p:txBody>
      </p:sp>
      <p:sp>
        <p:nvSpPr>
          <p:cNvPr id="8" name="step-card"/>
          <p:cNvSpPr/>
          <p:nvPr/>
        </p:nvSpPr>
        <p:spPr>
          <a:xfrm>
            <a:off x="4348886" y="1371600"/>
            <a:ext cx="3489350" cy="2331720"/>
          </a:xfrm>
          <a:prstGeom prst="roundRect">
            <a:avLst>
              <a:gd name="adj" fmla="val 5490"/>
            </a:avLst>
          </a:prstGeom>
          <a:solidFill>
            <a:srgbClr val="123A4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9" name="num-circle"/>
          <p:cNvSpPr/>
          <p:nvPr/>
        </p:nvSpPr>
        <p:spPr>
          <a:xfrm>
            <a:off x="4623206" y="1627632"/>
            <a:ext cx="457200" cy="457200"/>
          </a:xfrm>
          <a:prstGeom prst="ellipse">
            <a:avLst/>
          </a:prstGeom>
          <a:solidFill>
            <a:srgbClr val="5FD3E3"/>
          </a:solidFill>
          <a:ln/>
        </p:spPr>
      </p:sp>
      <p:sp>
        <p:nvSpPr>
          <p:cNvPr id="10" name="num"/>
          <p:cNvSpPr/>
          <p:nvPr/>
        </p:nvSpPr>
        <p:spPr>
          <a:xfrm>
            <a:off x="462320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7566" y="1673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4FB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it free on Render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623206" y="2331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› Blueprint › this repo. render.yaml supplies build, start, health check and a generated secret.</a:t>
            </a:r>
            <a:endParaRPr lang="en-US" sz="1300" dirty="0"/>
          </a:p>
        </p:txBody>
      </p:sp>
      <p:sp>
        <p:nvSpPr>
          <p:cNvPr id="13" name="step-card"/>
          <p:cNvSpPr/>
          <p:nvPr/>
        </p:nvSpPr>
        <p:spPr>
          <a:xfrm>
            <a:off x="8240573" y="1371600"/>
            <a:ext cx="3489350" cy="2331720"/>
          </a:xfrm>
          <a:prstGeom prst="roundRect">
            <a:avLst>
              <a:gd name="adj" fmla="val 5490"/>
            </a:avLst>
          </a:prstGeom>
          <a:solidFill>
            <a:srgbClr val="123A4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14300" dist="25400" dir="5400000">
              <a:srgbClr val="0B2430">
                <a:alpha val="14000"/>
              </a:srgbClr>
            </a:outerShdw>
          </a:effectLst>
        </p:spPr>
      </p:sp>
      <p:sp>
        <p:nvSpPr>
          <p:cNvPr id="14" name="num-circle"/>
          <p:cNvSpPr/>
          <p:nvPr/>
        </p:nvSpPr>
        <p:spPr>
          <a:xfrm>
            <a:off x="8514893" y="1627632"/>
            <a:ext cx="457200" cy="457200"/>
          </a:xfrm>
          <a:prstGeom prst="ellipse">
            <a:avLst/>
          </a:prstGeom>
          <a:solidFill>
            <a:srgbClr val="5FD3E3"/>
          </a:solidFill>
          <a:ln/>
        </p:spPr>
      </p:sp>
      <p:sp>
        <p:nvSpPr>
          <p:cNvPr id="15" name="num"/>
          <p:cNvSpPr/>
          <p:nvPr/>
        </p:nvSpPr>
        <p:spPr>
          <a:xfrm>
            <a:off x="8514893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09253" y="1673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4FB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the app at it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514893" y="2331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login screen tap “Can’t connect?”, paste your Render URL, Test connection, Save &amp; reload.</a:t>
            </a:r>
            <a:endParaRPr lang="en-US" sz="1300" dirty="0"/>
          </a:p>
        </p:txBody>
      </p:sp>
      <p:sp>
        <p:nvSpPr>
          <p:cNvPr id="18" name="close1"/>
          <p:cNvSpPr txBox="1"/>
          <p:nvPr/>
        </p:nvSpPr>
        <p:spPr>
          <a:xfrm>
            <a:off x="914400" y="4206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F4F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do not rise to the level of your goals.”</a:t>
            </a:r>
            <a:endParaRPr lang="en-US" sz="2700" dirty="0"/>
          </a:p>
        </p:txBody>
      </p:sp>
      <p:sp>
        <p:nvSpPr>
          <p:cNvPr id="19" name="close2"/>
          <p:cNvSpPr txBox="1"/>
          <p:nvPr/>
        </p:nvSpPr>
        <p:spPr>
          <a:xfrm>
            <a:off x="914400" y="49377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5F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fall to the level of your systems.”</a:t>
            </a:r>
            <a:endParaRPr lang="en-US" sz="27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Clear, Atomic Habits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84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omic - Habit Streak Tracker">
  <a:themeElements>
    <a:clrScheme name="Atomic - Habit Streak Tracker">
      <a:dk1>
        <a:srgbClr val="0B2430"/>
      </a:dk1>
      <a:lt1>
        <a:srgbClr val="FFFFFF"/>
      </a:lt1>
      <a:dk2>
        <a:srgbClr val="0E7486"/>
      </a:dk2>
      <a:lt2>
        <a:srgbClr val="EAF4F7"/>
      </a:lt2>
      <a:accent1>
        <a:srgbClr val="5FD3E3"/>
      </a:accent1>
      <a:accent2>
        <a:srgbClr val="F2A65A"/>
      </a:accent2>
      <a:accent3>
        <a:srgbClr val="123A48"/>
      </a:accent3>
      <a:accent4>
        <a:srgbClr val="5E8493"/>
      </a:accent4>
      <a:accent5>
        <a:srgbClr val="FBEAD8"/>
      </a:accent5>
      <a:accent6>
        <a:srgbClr val="C9DEE6"/>
      </a:accent6>
      <a:hlink>
        <a:srgbClr val="0E7486"/>
      </a:hlink>
      <a:folHlink>
        <a:srgbClr val="F2A65A"/>
      </a:folHlink>
    </a:clrScheme>
    <a:fontScheme name="Atomic - Habit Streak Tracke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Atomic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Atomic - Habit Streak Tracker: why each feature exists</dc:title>
  <dc:subject>Feature rationale in the words of Atomic Habits by James Clear</dc:subject>
  <dc:creator>Atomic Habit Tracker</dc:creator>
  <cp:lastModifiedBy>Atomic Habit Tracker</cp:lastModifiedBy>
  <cp:revision>1</cp:revision>
  <dcterms:created xsi:type="dcterms:W3CDTF">2026-10-06T20:18:16Z</dcterms:created>
  <dcterms:modified xsi:type="dcterms:W3CDTF">2026-10-06T20:18:16Z</dcterms:modified>
</cp:coreProperties>
</file>